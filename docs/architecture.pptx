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32F3E"/>
                </a:solidFill>
                <a:latin typeface="Arial"/>
              </a:rPr>
              <a:t>FSM — Field Service Management on AWS  · 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116128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B"/>
                </a:solidFill>
                <a:latin typeface="Arial"/>
              </a:rPr>
              <a:t>Region us-east-1  ·  fully serverless  ·  four planes: Edge &amp; Web · Identity · Application &amp; Data · AI (Bedrock AgentCore)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9264"/>
            <a:ext cx="256032" cy="128016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7" y="89611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2F3E"/>
                </a:solidFill>
                <a:latin typeface="Arial"/>
              </a:rPr>
              <a:t>User /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4248" y="969264"/>
            <a:ext cx="256032" cy="128016"/>
          </a:xfrm>
          <a:prstGeom prst="rect">
            <a:avLst/>
          </a:prstGeom>
          <a:solidFill>
            <a:srgbClr val="3F8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6" y="89611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2F3E"/>
                </a:solidFill>
                <a:latin typeface="Arial"/>
              </a:rPr>
              <a:t>API + Lambda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8456" y="969264"/>
            <a:ext cx="256032" cy="128016"/>
          </a:xfrm>
          <a:prstGeom prst="rect">
            <a:avLst/>
          </a:prstGeom>
          <a:solidFill>
            <a:srgbClr val="405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1064" y="89611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2F3E"/>
                </a:solidFill>
                <a:latin typeface="Arial"/>
              </a:rPr>
              <a:t>DynamoDB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2664" y="969264"/>
            <a:ext cx="256032" cy="128016"/>
          </a:xfrm>
          <a:prstGeom prst="rect">
            <a:avLst/>
          </a:prstGeom>
          <a:solidFill>
            <a:srgbClr val="C74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5272" y="89611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2F3E"/>
                </a:solidFill>
                <a:latin typeface="Arial"/>
              </a:rPr>
              <a:t>AgentCore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76872" y="969264"/>
            <a:ext cx="256032" cy="12801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896112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2F3E"/>
                </a:solidFill>
                <a:latin typeface="Arial"/>
              </a:rPr>
              <a:t>Async / observability (dashed)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371600"/>
            <a:ext cx="2651760" cy="2103120"/>
          </a:xfrm>
          <a:prstGeom prst="roundRect">
            <a:avLst/>
          </a:prstGeom>
          <a:solidFill>
            <a:srgbClr val="EAF3FC"/>
          </a:solidFill>
          <a:ln w="22225">
            <a:solidFill>
              <a:srgbClr val="0972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65960" y="1417320"/>
            <a:ext cx="246887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95CB0"/>
                </a:solidFill>
                <a:latin typeface="Arial"/>
              </a:rPr>
              <a:t>Edge &amp; 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743200"/>
            <a:ext cx="1417320" cy="1463040"/>
          </a:xfrm>
          <a:prstGeom prst="roundRect">
            <a:avLst/>
          </a:prstGeom>
          <a:solidFill>
            <a:srgbClr val="F3ECFB"/>
          </a:solidFill>
          <a:ln w="22225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1234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2FB3"/>
                </a:solidFill>
                <a:latin typeface="Arial"/>
              </a:rPr>
              <a:t>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280160"/>
            <a:ext cx="3657600" cy="5212080"/>
          </a:xfrm>
          <a:prstGeom prst="roundRect">
            <a:avLst/>
          </a:prstGeom>
          <a:solidFill>
            <a:srgbClr val="EEF6E6"/>
          </a:solidFill>
          <a:ln w="22225">
            <a:solidFill>
              <a:srgbClr val="7AA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00600" y="1325880"/>
            <a:ext cx="3474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8019"/>
                </a:solidFill>
                <a:latin typeface="Arial"/>
              </a:rPr>
              <a:t>Application &amp;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280160"/>
            <a:ext cx="3337560" cy="5212080"/>
          </a:xfrm>
          <a:prstGeom prst="roundRect">
            <a:avLst/>
          </a:prstGeom>
          <a:solidFill>
            <a:srgbClr val="FBEAF2"/>
          </a:solidFill>
          <a:ln w="22225">
            <a:solidFill>
              <a:srgbClr val="C74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41080" y="1325880"/>
            <a:ext cx="315467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2960"/>
                </a:solidFill>
                <a:latin typeface="Arial"/>
              </a:rPr>
              <a:t>AI — Amazon Bedrock AgentCore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480560"/>
            <a:ext cx="4160520" cy="1828800"/>
          </a:xfrm>
          <a:prstGeom prst="roundRect">
            <a:avLst/>
          </a:prstGeom>
          <a:solidFill>
            <a:srgbClr val="F1F3F5"/>
          </a:solidFill>
          <a:ln w="22225">
            <a:solidFill>
              <a:srgbClr val="5A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5760" y="4526280"/>
            <a:ext cx="39776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C76"/>
                </a:solidFill>
                <a:latin typeface="Arial"/>
              </a:rPr>
              <a:t>Operations &amp; IaC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554480"/>
            <a:ext cx="1051560" cy="822960"/>
          </a:xfrm>
          <a:prstGeom prst="roundRect">
            <a:avLst/>
          </a:prstGeom>
          <a:solidFill>
            <a:srgbClr val="232F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End 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(Browser / Mobile)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1965960"/>
            <a:ext cx="1097280" cy="868680"/>
          </a:xfrm>
          <a:prstGeom prst="roundRect">
            <a:avLst/>
          </a:prstGeom>
          <a:solidFill>
            <a:srgbClr val="8C4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Amazon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CloudFront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(OAI, HTTPS)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1965960"/>
            <a:ext cx="1143000" cy="868680"/>
          </a:xfrm>
          <a:prstGeom prst="roundRect">
            <a:avLst/>
          </a:prstGeom>
          <a:solidFill>
            <a:srgbClr val="3F862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Amazon 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(React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Cloudscape SPA)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291840"/>
            <a:ext cx="1143000" cy="777240"/>
          </a:xfrm>
          <a:prstGeom prst="roundRect">
            <a:avLst/>
          </a:prstGeom>
          <a:solidFill>
            <a:srgbClr val="DD344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Amazon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Cognito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User Pool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1828800"/>
            <a:ext cx="1463040" cy="914400"/>
          </a:xfrm>
          <a:prstGeom prst="roundRect">
            <a:avLst/>
          </a:prstGeom>
          <a:solidFill>
            <a:srgbClr val="8C4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Amazon API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REST + WebSocket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(API key + CORS)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1828800"/>
            <a:ext cx="1508760" cy="914400"/>
          </a:xfrm>
          <a:prstGeom prst="roundRect">
            <a:avLst/>
          </a:prstGeom>
          <a:solidFill>
            <a:srgbClr val="ED7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Data Lambdas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customers · jobs · techs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invoices · parts ·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063240"/>
            <a:ext cx="1463040" cy="914400"/>
          </a:xfrm>
          <a:prstGeom prst="roundRect">
            <a:avLst/>
          </a:prstGeom>
          <a:solidFill>
            <a:srgbClr val="ED7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Stream Handler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Lambda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(WebSocket fan-out)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063240"/>
            <a:ext cx="1508760" cy="914400"/>
          </a:xfrm>
          <a:prstGeom prst="roundRect">
            <a:avLst/>
          </a:prstGeom>
          <a:solidFill>
            <a:srgbClr val="ED7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FSM-AgentsApiHandler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Lambda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/agents /chat /workflow /trace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4920" y="4343400"/>
            <a:ext cx="2880360" cy="1737360"/>
          </a:xfrm>
          <a:prstGeom prst="roundRect">
            <a:avLst/>
          </a:prstGeom>
          <a:solidFill>
            <a:srgbClr val="4053D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Amazon DynamoDB  (on-demand)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Customers · Jobs · Technicians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Invoices · Metrics · Parts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Documentation · SimulatorConfig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WebSocketConnections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(DynamoDB Streams on hot tables)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1828800"/>
            <a:ext cx="2971800" cy="914400"/>
          </a:xfrm>
          <a:prstGeom prst="roundRect">
            <a:avLst/>
          </a:prstGeom>
          <a:solidFill>
            <a:srgbClr val="007A6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Orchestrator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Strands SDK + Claude Sonnet 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direct DynamoDB tools (read/write)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292608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HVAC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292608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Inventory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370332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Technician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Scheduling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370332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Comms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448056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Auth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48056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Billing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Invoicing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5257800"/>
            <a:ext cx="1371600" cy="658368"/>
          </a:xfrm>
          <a:prstGeom prst="roundRect">
            <a:avLst/>
          </a:prstGeom>
          <a:solidFill>
            <a:srgbClr val="01A88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Technical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20" y="5257800"/>
            <a:ext cx="1371600" cy="658368"/>
          </a:xfrm>
          <a:prstGeom prst="roundRect">
            <a:avLst/>
          </a:prstGeom>
          <a:solidFill>
            <a:srgbClr val="232F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Amazon ECR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per-agent images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5989320"/>
            <a:ext cx="2971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2960"/>
                </a:solidFill>
                <a:latin typeface="Arial"/>
              </a:rPr>
              <a:t>Each agent = own arm64 container + ECR image + least-privilege IAM role; observability (OTel) enabled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074920"/>
            <a:ext cx="1234440" cy="868680"/>
          </a:xfrm>
          <a:prstGeom prst="roundRect">
            <a:avLst/>
          </a:prstGeom>
          <a:solidFill>
            <a:srgbClr val="E7157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Amazon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CloudWatch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Logs + OTel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traces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83080" y="5074920"/>
            <a:ext cx="1234440" cy="868680"/>
          </a:xfrm>
          <a:prstGeom prst="roundRect">
            <a:avLst/>
          </a:prstGeom>
          <a:solidFill>
            <a:srgbClr val="E7157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AWS Cloud-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Formation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(nested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templates)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8960" y="5074920"/>
            <a:ext cx="1234440" cy="868680"/>
          </a:xfrm>
          <a:prstGeom prst="roundRect">
            <a:avLst/>
          </a:prstGeom>
          <a:solidFill>
            <a:srgbClr val="DD344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AWS IAM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(per-Lambda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per-agent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roles)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17320" y="1874519"/>
            <a:ext cx="640080" cy="274321"/>
          </a:xfrm>
          <a:prstGeom prst="line">
            <a:avLst/>
          </a:prstGeom>
          <a:ln w="25400">
            <a:solidFill>
              <a:srgbClr val="232F3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89888" y="1627632"/>
            <a:ext cx="7772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2F3E"/>
                </a:solidFill>
                <a:latin typeface="Arial"/>
              </a:rPr>
              <a:t>HTTPS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54680" y="2395728"/>
            <a:ext cx="91440" cy="0"/>
          </a:xfrm>
          <a:prstGeom prst="line">
            <a:avLst/>
          </a:prstGeom>
          <a:ln w="25400">
            <a:solidFill>
              <a:srgbClr val="8C4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80360" y="2852928"/>
            <a:ext cx="8229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C4FFF"/>
                </a:solidFill>
                <a:latin typeface="Arial"/>
              </a:rPr>
              <a:t>OAI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6112" y="2377440"/>
            <a:ext cx="82296" cy="914400"/>
          </a:xfrm>
          <a:prstGeom prst="line">
            <a:avLst/>
          </a:prstGeom>
          <a:ln w="22225">
            <a:solidFill>
              <a:srgbClr val="8C4FF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88720" y="2761488"/>
            <a:ext cx="8229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C4FFF"/>
                </a:solidFill>
                <a:latin typeface="Arial"/>
              </a:rPr>
              <a:t>OIDC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417320" y="2240280"/>
            <a:ext cx="3474720" cy="91440"/>
          </a:xfrm>
          <a:prstGeom prst="line">
            <a:avLst/>
          </a:prstGeom>
          <a:ln w="25400">
            <a:solidFill>
              <a:srgbClr val="232F3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331720" y="3154680"/>
            <a:ext cx="21488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2F3E"/>
                </a:solidFill>
                <a:latin typeface="Arial"/>
              </a:rPr>
              <a:t>REST + WSS direct (API key)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355080" y="2240280"/>
            <a:ext cx="320040" cy="0"/>
          </a:xfrm>
          <a:prstGeom prst="line">
            <a:avLst/>
          </a:prstGeom>
          <a:ln w="25400">
            <a:solidFill>
              <a:srgbClr val="3F86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263640" y="2651760"/>
            <a:ext cx="640080" cy="411480"/>
          </a:xfrm>
          <a:prstGeom prst="line">
            <a:avLst/>
          </a:prstGeom>
          <a:ln w="25400">
            <a:solidFill>
              <a:srgbClr val="3F86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583680" y="2743200"/>
            <a:ext cx="777240" cy="1600200"/>
          </a:xfrm>
          <a:prstGeom prst="line">
            <a:avLst/>
          </a:prstGeom>
          <a:ln w="25400">
            <a:solidFill>
              <a:srgbClr val="4053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183879" y="2377440"/>
            <a:ext cx="548641" cy="1097280"/>
          </a:xfrm>
          <a:prstGeom prst="line">
            <a:avLst/>
          </a:prstGeom>
          <a:ln w="25400">
            <a:solidFill>
              <a:srgbClr val="C740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89520" y="4069080"/>
            <a:ext cx="201168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7407F"/>
                </a:solidFill>
                <a:latin typeface="Arial"/>
              </a:rPr>
              <a:t>InvokeAgentRuntime (SigV4)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281160" y="2743200"/>
            <a:ext cx="137160" cy="182880"/>
          </a:xfrm>
          <a:prstGeom prst="line">
            <a:avLst/>
          </a:prstGeom>
          <a:ln w="19050">
            <a:solidFill>
              <a:srgbClr val="C740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881360" y="2743200"/>
            <a:ext cx="137160" cy="1737360"/>
          </a:xfrm>
          <a:prstGeom prst="line">
            <a:avLst/>
          </a:prstGeom>
          <a:ln w="19050">
            <a:solidFill>
              <a:srgbClr val="C740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61120" y="2761488"/>
            <a:ext cx="1737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7407F"/>
                </a:solidFill>
                <a:latin typeface="Arial"/>
              </a:rPr>
              <a:t>delegates to specialists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7955279" y="4206240"/>
            <a:ext cx="777241" cy="411480"/>
          </a:xfrm>
          <a:prstGeom prst="line">
            <a:avLst/>
          </a:prstGeom>
          <a:ln w="22225">
            <a:solidFill>
              <a:srgbClr val="4053D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818120" y="3931920"/>
            <a:ext cx="1737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53D6"/>
                </a:solidFill>
                <a:latin typeface="Arial"/>
              </a:rPr>
              <a:t>DDB tools (per-agent IAM)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5532120" y="3977639"/>
            <a:ext cx="91440" cy="365761"/>
          </a:xfrm>
          <a:prstGeom prst="line">
            <a:avLst/>
          </a:prstGeom>
          <a:ln w="25400">
            <a:solidFill>
              <a:srgbClr val="4053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0" y="4041648"/>
            <a:ext cx="8229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53D6"/>
                </a:solidFill>
                <a:latin typeface="Arial"/>
              </a:rPr>
              <a:t>Streams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623560" y="2743200"/>
            <a:ext cx="0" cy="320040"/>
          </a:xfrm>
          <a:prstGeom prst="line">
            <a:avLst/>
          </a:prstGeom>
          <a:ln w="22225">
            <a:solidFill>
              <a:srgbClr val="3F862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669280" y="2761488"/>
            <a:ext cx="9144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F8624"/>
                </a:solidFill>
                <a:latin typeface="Arial"/>
              </a:rPr>
              <a:t>WS push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1691640" y="3977639"/>
            <a:ext cx="4709160" cy="1234441"/>
          </a:xfrm>
          <a:prstGeom prst="line">
            <a:avLst/>
          </a:prstGeom>
          <a:ln w="19050">
            <a:solidFill>
              <a:srgbClr val="5A6B7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017520" y="4160520"/>
            <a:ext cx="14630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6B7B"/>
                </a:solidFill>
                <a:latin typeface="Arial"/>
              </a:rPr>
              <a:t>logs + OTel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